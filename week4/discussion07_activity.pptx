
<file path=[Content_Types].xml><?xml version="1.0" encoding="utf-8"?>
<Types xmlns="http://schemas.openxmlformats.org/package/2006/content-types">
  <Default ContentType="application/xml" Extension="xml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  <p:ext uri="GoogleSlidesCustomDataVersion2">
      <go:slidesCustomData xmlns:go="http://customooxmlschemas.google.com/" r:id="rId15" roundtripDataSignature="AMtx7mgi4c5MZah5FflB/XgUE0Rf0RzZD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customschemas.google.com/relationships/presentationmetadata" Target="metadata"/><Relationship Id="rId14" Type="http://schemas.openxmlformats.org/officeDocument/2006/relationships/slide" Target="slides/slide9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2" name="Google Shape;52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8" name="Google Shape;58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4" name="Google Shape;64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0" name="Google Shape;70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5" name="Google Shape;75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1" name="Google Shape;81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39b7c355bdc_0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7" name="Google Shape;87;g39b7c355bdc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39b7c355bdc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3" name="Google Shape;93;g39b7c355bdc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39b7c355bdc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9" name="Google Shape;99;g39b7c355bdc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0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10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1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" name="Google Shape;15;p1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6" name="Google Shape;16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2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9" name="Google Shape;1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1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13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13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15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15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16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17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" name="Google Shape;37;p17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17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17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8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9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9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hyperlink" Target="https://astroquery.readthedocs.io/en/latest/index.html" TargetMode="External"/><Relationship Id="rId4" Type="http://schemas.openxmlformats.org/officeDocument/2006/relationships/hyperlink" Target="https://docs.astropy.org/en/stable/table/index.html" TargetMode="External"/><Relationship Id="rId5" Type="http://schemas.openxmlformats.org/officeDocument/2006/relationships/hyperlink" Target="https://docs.astropy.org/en/stable/table/pandas.html" TargetMode="External"/><Relationship Id="rId6" Type="http://schemas.openxmlformats.org/officeDocument/2006/relationships/hyperlink" Target="https://docs.astropy.org/en/stable/io/fits/index.html" TargetMode="Externa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hyperlink" Target="https://www.tutorialspoint.com/sql/" TargetMode="External"/><Relationship Id="rId4" Type="http://schemas.openxmlformats.org/officeDocument/2006/relationships/hyperlink" Target="https://tapvizier.u-strasbg.fr/adql/help.html" TargetMode="External"/><Relationship Id="rId5" Type="http://schemas.openxmlformats.org/officeDocument/2006/relationships/hyperlink" Target="http://simbad.u-strasbg.fr/simbad/tap/help/adqlHelp.html" TargetMode="External"/><Relationship Id="rId6" Type="http://schemas.openxmlformats.org/officeDocument/2006/relationships/hyperlink" Target="https://ui.adsabs.harvard.edu/help/search/search-syntax" TargetMode="Externa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hyperlink" Target="http://tapvizier.cds.unistra.fr/adql/" TargetMode="External"/><Relationship Id="rId4" Type="http://schemas.openxmlformats.org/officeDocument/2006/relationships/hyperlink" Target="https://astroquery.readthedocs.io/en/latest/simbad/simbad.html" TargetMode="External"/><Relationship Id="rId5" Type="http://schemas.openxmlformats.org/officeDocument/2006/relationships/hyperlink" Target="https://astroquery.readthedocs.io/en/stable/vizier/vizier.html" TargetMode="External"/><Relationship Id="rId6" Type="http://schemas.openxmlformats.org/officeDocument/2006/relationships/hyperlink" Target="https://ui.adsabs.harvard.edu/abs/2013AJ....145..101K/abstract" TargetMode="Externa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85000" lnSpcReduction="20000"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7647"/>
              <a:buNone/>
            </a:pPr>
            <a:r>
              <a:rPr lang="en"/>
              <a:t>2025-10-21</a:t>
            </a:r>
            <a:endParaRPr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7647"/>
              <a:buNone/>
            </a:pPr>
            <a:r>
              <a:rPr lang="en"/>
              <a:t>[Your name here]</a:t>
            </a:r>
            <a:endParaRPr/>
          </a:p>
        </p:txBody>
      </p:sp>
      <p:sp>
        <p:nvSpPr>
          <p:cNvPr id="55" name="Google Shape;55;p1"/>
          <p:cNvSpPr txBox="1"/>
          <p:nvPr/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Font typeface="Arial"/>
              <a:buNone/>
            </a:pPr>
            <a:r>
              <a:rPr b="0" i="0" lang="en" sz="5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Astro 142</a:t>
            </a:r>
            <a:endParaRPr b="0" i="0" sz="5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Font typeface="Arial"/>
              <a:buNone/>
            </a:pPr>
            <a:r>
              <a:rPr b="0" i="0" lang="en" sz="5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Discussion 7</a:t>
            </a:r>
            <a:endParaRPr b="0" i="0" sz="5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Importing astro databases with numpy/pandas</a:t>
            </a:r>
            <a:endParaRPr/>
          </a:p>
        </p:txBody>
      </p:sp>
      <p:sp>
        <p:nvSpPr>
          <p:cNvPr id="61" name="Google Shape;61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/>
              <a:t>Astroquery: </a:t>
            </a:r>
            <a:r>
              <a:rPr lang="en" u="sng">
                <a:solidFill>
                  <a:schemeClr val="hlink"/>
                </a:solidFill>
                <a:hlinkClick r:id="rId3"/>
              </a:rPr>
              <a:t>https://astroquery.readthedocs.io/en/latest/index.html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en"/>
              <a:t>Results are (usually) given as an </a:t>
            </a:r>
            <a:r>
              <a:rPr lang="en" u="sng">
                <a:solidFill>
                  <a:schemeClr val="hlink"/>
                </a:solidFill>
                <a:hlinkClick r:id="rId4"/>
              </a:rPr>
              <a:t>astropy table</a:t>
            </a:r>
            <a:r>
              <a:rPr lang="en"/>
              <a:t>, similar in concept to a pandas dataframe. </a:t>
            </a:r>
            <a:r>
              <a:rPr lang="en" u="sng">
                <a:solidFill>
                  <a:schemeClr val="hlink"/>
                </a:solidFill>
                <a:hlinkClick r:id="rId5"/>
              </a:rPr>
              <a:t>See here for info on switching between pandas/astropy tables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en"/>
              <a:t>Some databases include options to get data directly off a server and into python (usually in the </a:t>
            </a:r>
            <a:r>
              <a:rPr lang="en" u="sng">
                <a:solidFill>
                  <a:schemeClr val="hlink"/>
                </a:solidFill>
                <a:hlinkClick r:id="rId6"/>
              </a:rPr>
              <a:t>hdulist format that’s used for fits images</a:t>
            </a:r>
            <a:r>
              <a:rPr lang="en"/>
              <a:t>)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8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SQL queries</a:t>
            </a:r>
            <a:endParaRPr/>
          </a:p>
        </p:txBody>
      </p:sp>
      <p:sp>
        <p:nvSpPr>
          <p:cNvPr id="67" name="Google Shape;67;p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/>
              <a:t>SQL - structured query language. Used to request/modify specific parts of (usually very large) databases when working with the entire database is unnecessary/impractical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en"/>
              <a:t>Lots of tutorials online, e.g. </a:t>
            </a:r>
            <a:r>
              <a:rPr lang="en" u="sng">
                <a:solidFill>
                  <a:schemeClr val="hlink"/>
                </a:solidFill>
                <a:hlinkClick r:id="rId3"/>
              </a:rPr>
              <a:t>this one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en"/>
              <a:t>Often use modified versions of SQL (e.g. </a:t>
            </a:r>
            <a:r>
              <a:rPr lang="en" u="sng">
                <a:solidFill>
                  <a:schemeClr val="hlink"/>
                </a:solidFill>
                <a:hlinkClick r:id="rId4"/>
              </a:rPr>
              <a:t>ADQL for Vizier</a:t>
            </a:r>
            <a:r>
              <a:rPr lang="en"/>
              <a:t> or </a:t>
            </a:r>
            <a:r>
              <a:rPr lang="en" u="sng">
                <a:solidFill>
                  <a:schemeClr val="hlink"/>
                </a:solidFill>
                <a:hlinkClick r:id="rId5"/>
              </a:rPr>
              <a:t>for SIMBAD</a:t>
            </a:r>
            <a:r>
              <a:rPr lang="en"/>
              <a:t>) with similar syntax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800"/>
              <a:buNone/>
            </a:pPr>
            <a:r>
              <a:rPr lang="en"/>
              <a:t>Many databases have unique syntax (e.g. </a:t>
            </a:r>
            <a:r>
              <a:rPr lang="en" u="sng">
                <a:solidFill>
                  <a:schemeClr val="hlink"/>
                </a:solidFill>
                <a:hlinkClick r:id="rId6"/>
              </a:rPr>
              <a:t>ADS</a:t>
            </a:r>
            <a:r>
              <a:rPr lang="en"/>
              <a:t>), but similar principles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6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"/>
              <a:t>Discussion Activity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Discussion 7 Activity</a:t>
            </a:r>
            <a:endParaRPr/>
          </a:p>
        </p:txBody>
      </p:sp>
      <p:sp>
        <p:nvSpPr>
          <p:cNvPr id="78" name="Google Shape;78;p7"/>
          <p:cNvSpPr txBox="1"/>
          <p:nvPr>
            <p:ph idx="1" type="body"/>
          </p:nvPr>
        </p:nvSpPr>
        <p:spPr>
          <a:xfrm>
            <a:off x="311700" y="1152475"/>
            <a:ext cx="8520600" cy="365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32500"/>
          </a:bodyPr>
          <a:lstStyle/>
          <a:p>
            <a:pPr indent="-324708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ct val="100000"/>
              <a:buAutoNum type="arabicPeriod"/>
            </a:pPr>
            <a:r>
              <a:rPr lang="en" sz="4657"/>
              <a:t>Go to the Vizier ADQL page and load the YSO demo: </a:t>
            </a:r>
            <a:r>
              <a:rPr lang="en" sz="4657" u="sng">
                <a:solidFill>
                  <a:schemeClr val="hlink"/>
                </a:solidFill>
                <a:hlinkClick r:id="rId3"/>
              </a:rPr>
              <a:t>http://tapvizier.cds.unistra.fr/adql/</a:t>
            </a:r>
            <a:r>
              <a:rPr lang="en" sz="4657"/>
              <a:t>. On a slide, list what you think the column names of the resulting CSV file will be, then screenshot the actual column names.</a:t>
            </a:r>
            <a:endParaRPr sz="4657"/>
          </a:p>
          <a:p>
            <a:pPr indent="-324708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AutoNum type="arabicPeriod"/>
            </a:pPr>
            <a:r>
              <a:rPr lang="en" sz="4657"/>
              <a:t>Install the pyvo and astroquery packages (you’ll need these for homework)</a:t>
            </a:r>
            <a:endParaRPr sz="4657"/>
          </a:p>
          <a:p>
            <a:pPr indent="-324708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AutoNum type="arabicPeriod"/>
            </a:pPr>
            <a:r>
              <a:rPr lang="en" sz="4657"/>
              <a:t>Use astroquery </a:t>
            </a:r>
            <a:r>
              <a:rPr lang="en" sz="4657"/>
              <a:t>(</a:t>
            </a:r>
            <a:r>
              <a:rPr lang="en" sz="4657" u="sng">
                <a:solidFill>
                  <a:schemeClr val="hlink"/>
                </a:solidFill>
                <a:hlinkClick r:id="rId4"/>
              </a:rPr>
              <a:t>https://astroquery.readthedocs.io/en/latest/simbad/simbad.html</a:t>
            </a:r>
            <a:r>
              <a:rPr lang="en" sz="4657"/>
              <a:t>)</a:t>
            </a:r>
            <a:r>
              <a:rPr lang="en" sz="4657"/>
              <a:t> to get the coordinates for M1 from Simbad and screenshot on a slide </a:t>
            </a:r>
            <a:endParaRPr sz="4657"/>
          </a:p>
          <a:p>
            <a:pPr indent="-324708" lvl="0" marL="457200" rtl="0" algn="l">
              <a:spcBef>
                <a:spcPts val="0"/>
              </a:spcBef>
              <a:spcAft>
                <a:spcPts val="0"/>
              </a:spcAft>
              <a:buSzPct val="100000"/>
              <a:buAutoNum type="arabicPeriod"/>
            </a:pPr>
            <a:r>
              <a:rPr lang="en" sz="4657"/>
              <a:t>Access the nearby galaxy catalog from this paper in Vizier. Use astroquery (</a:t>
            </a:r>
            <a:r>
              <a:rPr lang="en" sz="4657" u="sng">
                <a:solidFill>
                  <a:schemeClr val="hlink"/>
                </a:solidFill>
                <a:hlinkClick r:id="rId5"/>
              </a:rPr>
              <a:t>https://astroquery.readthedocs.io/en/stable/vizier/vizier.html</a:t>
            </a:r>
            <a:r>
              <a:rPr lang="en" sz="4657"/>
              <a:t>) to get the name, ra, dec, distance, radial velocity from Vizier. Attach screenshots on the next slides. </a:t>
            </a:r>
            <a:r>
              <a:rPr lang="en" sz="4657" u="sng">
                <a:solidFill>
                  <a:schemeClr val="accent5"/>
                </a:solidFill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https://ui.adsabs.harvard.edu/abs/2013AJ....145..101K/abstract</a:t>
            </a:r>
            <a:r>
              <a:rPr lang="en" sz="4657"/>
              <a:t> </a:t>
            </a:r>
            <a:endParaRPr sz="4657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t/>
            </a:r>
            <a:endParaRPr/>
          </a:p>
        </p:txBody>
      </p:sp>
      <p:sp>
        <p:nvSpPr>
          <p:cNvPr id="84" name="Google Shape;84;p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8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9b7c355bdc_0_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t/>
            </a:r>
            <a:endParaRPr/>
          </a:p>
        </p:txBody>
      </p:sp>
      <p:sp>
        <p:nvSpPr>
          <p:cNvPr id="90" name="Google Shape;90;g39b7c355bdc_0_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8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39b7c355bdc_0_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t/>
            </a:r>
            <a:endParaRPr/>
          </a:p>
        </p:txBody>
      </p:sp>
      <p:sp>
        <p:nvSpPr>
          <p:cNvPr id="96" name="Google Shape;96;g39b7c355bdc_0_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8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39b7c355bdc_0_1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t/>
            </a:r>
            <a:endParaRPr/>
          </a:p>
        </p:txBody>
      </p:sp>
      <p:sp>
        <p:nvSpPr>
          <p:cNvPr id="102" name="Google Shape;102;g39b7c355bdc_0_1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8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